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78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Maniar Roshan. Today I present ShopEZ — a full-stack e-commerce application built with Angular 19, ASP.NET Core 8 Microservices, Ocelot API Gateway, SQL Server, JWT Authentication, and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slides covering the complete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ShopEZ is enterprise-architecture in a student project. 4 microservices, 7 Docker containers, 16 components, 25+ REST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problem on the left is directly solved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technologies. Most impressive: Angular 19 standalone, Ocelot Gateway, Dapper+EF hybrid, Docker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architecture — Angular talks only to Gateway. Gateway routes to services. Internal calls use Docker DNS.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flow diagram shows the complete user journey. Users land on Home Page, register or login, reach the Dashboard, then branch to all features. Logout returns them to Home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architecture: 3 tiers. Public routes: no protection. authGuard: checks JWT expiry, redirects to /login. adminGuard: checks JWT AND role=Admin, redirects to /admin-login.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Angular 19 has no NgModules. 6 key patterns: Standalone components, functional guards (×2), authInterceptor, BehaviorSubject state, ObjectUrlPipe.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independent microservices. CartService and OrderService call ProductService directly using typed HTTP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Angular only knows one URL: localhost:5000. Ocelot handles routing. Two config files for local vs Docker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JWT validated TWICE — Ocelot Gateway (Layer 1) and each microservice (Layer 2). This is defense-in-depth. Steps 1-5 are the login flow. Steps 6-8 are a protected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role claim is inside JWT. Client-side guards are UX protection. Real enforcement: [Authorize(Roles='Admin')] on server-side controller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critical decisions: soft delete preserves order history, denormalized order items mean old orders never break when products are edited.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diagram. Blue = Customer actions. Purple = Admin actions. System boundary represents ShopEZ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3-tier component protection. Public: no guard. authGuard: valid login. adminGuard: login + Admin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flow: Angular → Ocelot → OrderService → ProductService (internal). Key: OrderService calls ProductService directly via Docker DNS, not through the public gateway.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features. Most impressive: JWT defense-in-depth, Dapper+EF hybrid, Docker Compose one-command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journey: Home → Login → Browse → Cart → Checkout → Order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has separate login. Dashboard shows live stats. Product management has CRUD + image upload. User management allows role toggles.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 provides interactive docs per service. Most important Postman tests: 403 Forbidden on admin endpoint without admin role, 401 on cart without token. Prove security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command starts everything. Dependency order: SQL → services → gateway → frontend. ProductService has volume mount for image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hybrid ORM decision is the most impressive technical choice. Explain: reads are high-frequency so Dapper is right. Writes are low-frequency admin actions so EF Core safety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is a professional differentiator. Backend tests need no database — Moq mocks everything. All 3 test projects and 13 Angular spec files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impressive to mention: Kubernetes (production scale), RabbitMQ (distributed systems), Redis (performance). Shows thinking beyond student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ShopEZ demonstrates production-quality engineering patterns directly applicable to Cognizant enterprise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End: 'Thank you. Happy to answer questions about the architecture, design decisions, or specific code choices in ShopEZ.'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28016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65760"/>
            <a:ext cx="2926080" cy="2926080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02920"/>
            <a:ext cx="1005840" cy="100584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640080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" y="144475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ShopEZ</a:t>
            </a:r>
            <a:endParaRPr lang="en-US" sz="6800" dirty="0"/>
          </a:p>
        </p:txBody>
      </p:sp>
      <p:sp>
        <p:nvSpPr>
          <p:cNvPr id="9" name="Text 6"/>
          <p:cNvSpPr/>
          <p:nvPr/>
        </p:nvSpPr>
        <p:spPr>
          <a:xfrm>
            <a:off x="237744" y="272491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Application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37744" y="3273552"/>
            <a:ext cx="164592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" y="34290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Maniar Roshan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7744" y="3767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 </a:t>
            </a: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uGE_DotNet FSD (Angular)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37744" y="4206240"/>
            <a:ext cx="1097280" cy="292608"/>
          </a:xfrm>
          <a:prstGeom prst="roundRect">
            <a:avLst>
              <a:gd name="adj" fmla="val 21875"/>
            </a:avLst>
          </a:prstGeom>
          <a:solidFill>
            <a:srgbClr val="DD0031">
              <a:alpha val="75000"/>
            </a:srgbClr>
          </a:solidFill>
          <a:ln w="15240">
            <a:solidFill>
              <a:srgbClr val="DD00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" y="4206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453896" y="4206240"/>
            <a:ext cx="1397203" cy="292608"/>
          </a:xfrm>
          <a:prstGeom prst="roundRect">
            <a:avLst>
              <a:gd name="adj" fmla="val 21875"/>
            </a:avLst>
          </a:prstGeom>
          <a:solidFill>
            <a:srgbClr val="512BD4">
              <a:alpha val="75000"/>
            </a:srgbClr>
          </a:solidFill>
          <a:ln w="15240">
            <a:solidFill>
              <a:srgbClr val="512B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53896" y="4206240"/>
            <a:ext cx="1397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969971" y="4206240"/>
            <a:ext cx="1322222" cy="292608"/>
          </a:xfrm>
          <a:prstGeom prst="roundRect">
            <a:avLst>
              <a:gd name="adj" fmla="val 21875"/>
            </a:avLst>
          </a:prstGeom>
          <a:solidFill>
            <a:srgbClr val="0D9488">
              <a:alpha val="75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69971" y="420624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411066" y="4206240"/>
            <a:ext cx="1097280" cy="292608"/>
          </a:xfrm>
          <a:prstGeom prst="roundRect">
            <a:avLst>
              <a:gd name="adj" fmla="val 21875"/>
            </a:avLst>
          </a:prstGeom>
          <a:solidFill>
            <a:srgbClr val="CC2927">
              <a:alpha val="75000"/>
            </a:srgbClr>
          </a:solidFill>
          <a:ln w="15240">
            <a:solidFill>
              <a:srgbClr val="CC29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11066" y="4206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27218" y="4206240"/>
            <a:ext cx="797357" cy="292608"/>
          </a:xfrm>
          <a:prstGeom prst="roundRect">
            <a:avLst>
              <a:gd name="adj" fmla="val 21875"/>
            </a:avLst>
          </a:prstGeom>
          <a:solidFill>
            <a:srgbClr val="2496ED">
              <a:alpha val="75000"/>
            </a:srgbClr>
          </a:solidFill>
          <a:ln w="15240">
            <a:solidFill>
              <a:srgbClr val="2496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27218" y="4206240"/>
            <a:ext cx="7973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43446" y="4206240"/>
            <a:ext cx="947318" cy="292608"/>
          </a:xfrm>
          <a:prstGeom prst="roundRect">
            <a:avLst>
              <a:gd name="adj" fmla="val 21875"/>
            </a:avLst>
          </a:prstGeom>
          <a:solidFill>
            <a:srgbClr val="F59E0B">
              <a:alpha val="75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43446" y="4206240"/>
            <a:ext cx="9473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243584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435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" y="12527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55448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5448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9536" y="1563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Solution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865376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8653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9536" y="1874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176272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762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9536" y="21854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248716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48716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9536" y="24963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 Diagram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" y="2798064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79806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9536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Architecture Diagram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" y="310896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10896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9536" y="31181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" y="3419856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41985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9536" y="3429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Microservices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" y="3730752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73075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9536" y="3739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Ocelot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" y="404164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0416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9536" y="4050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" y="4352544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35254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9536" y="43616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Role-Based Access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" y="466344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6634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9536" y="46725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ER Diagram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1243584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2435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38928" y="12527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155448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55448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38928" y="1563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1865376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18653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38928" y="1874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Order Flow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2176272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21762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38928" y="21854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54880" y="248716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48716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38928" y="24963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 Screenshots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2798064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279806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38928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 Screenshots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54880" y="310896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310896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38928" y="31181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— Postman &amp; Swagger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754880" y="3419856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41985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38928" y="3429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Deployment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754880" y="3730752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373075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38928" y="3739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+ EF Core Strategy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754880" y="404164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40416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38928" y="4050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754880" y="4352544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435254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38928" y="43616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754880" y="466344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46634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38928" y="46725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What is ShopEZ?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188720"/>
            <a:ext cx="5303520" cy="1005840"/>
          </a:xfrm>
          <a:prstGeom prst="roundRect">
            <a:avLst>
              <a:gd name="adj" fmla="val 12727"/>
            </a:avLst>
          </a:prstGeom>
          <a:solidFill>
            <a:srgbClr val="0A1628"/>
          </a:solidFill>
          <a:ln w="1524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2618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ShopEZ is a full-stack, production-ready E-Commerce web application built on Angular 19 Standalone frontend and ASP.NET Core 8 Microservices backend — designed for scalable, secure online shopping.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2377440"/>
            <a:ext cx="199339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2377440"/>
            <a:ext cx="199339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6888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5488" y="299923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2377440"/>
            <a:ext cx="199339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2377440"/>
            <a:ext cx="1993392" cy="4572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46888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51760" y="299923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28032" y="2377440"/>
            <a:ext cx="199339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28032" y="2377440"/>
            <a:ext cx="199339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46888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16 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28032" y="299923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Components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04304" y="2377440"/>
            <a:ext cx="199339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04304" y="2377440"/>
            <a:ext cx="199339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4304" y="246888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25+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004304" y="299923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3584448"/>
            <a:ext cx="265176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584448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6941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" y="4005072"/>
            <a:ext cx="2395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products, manage cart, place orders, view order history with JWT auth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28416" y="3584448"/>
            <a:ext cx="265176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28416" y="3584448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36941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56432" y="4005072"/>
            <a:ext cx="2395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 with image upload, user role management, all orders visibility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3584448"/>
            <a:ext cx="265176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3584448"/>
            <a:ext cx="26517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6941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005072"/>
            <a:ext cx="2395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microservices behind Ocelot Gateway, containerized with Docker Compose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SHOPEZ?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52144"/>
            <a:ext cx="4169664" cy="3767328"/>
          </a:xfrm>
          <a:prstGeom prst="roundRect">
            <a:avLst>
              <a:gd name="adj" fmla="val 3398"/>
            </a:avLst>
          </a:prstGeom>
          <a:solidFill>
            <a:srgbClr val="FFF5F5"/>
          </a:solidFill>
          <a:ln w="1778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52144"/>
            <a:ext cx="4169664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2529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Problems with Existing Systems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7007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design — single point of failure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4086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scale individual services independently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724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API security or gateway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236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separation — admin features exposed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 across environments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2611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JWT authentication 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3168" y="1152144"/>
            <a:ext cx="4169664" cy="3767328"/>
          </a:xfrm>
          <a:prstGeom prst="roundRect">
            <a:avLst>
              <a:gd name="adj" fmla="val 3398"/>
            </a:avLst>
          </a:prstGeom>
          <a:solidFill>
            <a:srgbClr val="F0FDF4"/>
          </a:solidFill>
          <a:ln w="17780">
            <a:solidFill>
              <a:srgbClr val="BBF7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1152144"/>
            <a:ext cx="4169664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22529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How ShopEZ Solves 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56048" y="18288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5504" y="17007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microservices — isolated failures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23408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scales independently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56048" y="28529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2724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 — single secure entry point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56048" y="336499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3236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role auth: Customer vs Admin separated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38770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one-command deployment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56048" y="43891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75504" y="42611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HMACSHA256 JWT — defense-in-depth security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25112" y="2743200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25112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950976"/>
            <a:ext cx="4169664" cy="859536"/>
          </a:xfrm>
          <a:prstGeom prst="roundRect">
            <a:avLst>
              <a:gd name="adj" fmla="val 14894"/>
            </a:avLst>
          </a:prstGeom>
          <a:solidFill>
            <a:srgbClr val="162032"/>
          </a:solidFill>
          <a:ln w="19050">
            <a:solidFill>
              <a:srgbClr val="DD003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950976"/>
            <a:ext cx="4169664" cy="41148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5214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07899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33272" y="142646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 — Standalone Components, Guards, RxJS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36008" y="950976"/>
            <a:ext cx="4169664" cy="859536"/>
          </a:xfrm>
          <a:prstGeom prst="roundRect">
            <a:avLst>
              <a:gd name="adj" fmla="val 14894"/>
            </a:avLst>
          </a:prstGeom>
          <a:solidFill>
            <a:srgbClr val="162032"/>
          </a:solidFill>
          <a:ln w="19050">
            <a:solidFill>
              <a:srgbClr val="512BD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950976"/>
            <a:ext cx="4169664" cy="41148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1521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0952" y="107899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330952" y="142646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Web API — Microservices, DI, Middleware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38328" y="1975104"/>
            <a:ext cx="4169664" cy="859536"/>
          </a:xfrm>
          <a:prstGeom prst="roundRect">
            <a:avLst>
              <a:gd name="adj" fmla="val 14894"/>
            </a:avLst>
          </a:prstGeom>
          <a:solidFill>
            <a:srgbClr val="162032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38328" y="1975104"/>
            <a:ext cx="4169664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17627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3272" y="210312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Gateway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33272" y="245059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Routing, JWT Validation, Reverse Proxy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36008" y="1975104"/>
            <a:ext cx="4169664" cy="859536"/>
          </a:xfrm>
          <a:prstGeom prst="roundRect">
            <a:avLst>
              <a:gd name="adj" fmla="val 14894"/>
            </a:avLst>
          </a:prstGeom>
          <a:solidFill>
            <a:srgbClr val="162032"/>
          </a:solidFill>
          <a:ln w="19050">
            <a:solidFill>
              <a:srgbClr val="CC292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36008" y="1975104"/>
            <a:ext cx="4169664" cy="41148"/>
          </a:xfrm>
          <a:prstGeom prst="rect">
            <a:avLst/>
          </a:prstGeom>
          <a:solidFill>
            <a:srgbClr val="CC2927"/>
          </a:solidFill>
          <a:ln w="12700">
            <a:solidFill>
              <a:srgbClr val="CC292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17627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30952" y="210312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330952" y="245059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(writes + migrations) + Dapper (reads)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38328" y="2999232"/>
            <a:ext cx="4169664" cy="859536"/>
          </a:xfrm>
          <a:prstGeom prst="roundRect">
            <a:avLst>
              <a:gd name="adj" fmla="val 14894"/>
            </a:avLst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8328" y="2999232"/>
            <a:ext cx="4169664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20040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33272" y="3127248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033272" y="347472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HMACSHA256 — Role-Based — Defense-in-Depth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636008" y="2999232"/>
            <a:ext cx="4169664" cy="859536"/>
          </a:xfrm>
          <a:prstGeom prst="roundRect">
            <a:avLst>
              <a:gd name="adj" fmla="val 14894"/>
            </a:avLst>
          </a:prstGeom>
          <a:solidFill>
            <a:srgbClr val="162032"/>
          </a:solidFill>
          <a:ln w="19050">
            <a:solidFill>
              <a:srgbClr val="2496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36008" y="2999232"/>
            <a:ext cx="4169664" cy="4114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20040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30952" y="3127248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330952" y="347472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7-Container Orchestration, Multi-Stage Nginx Build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38328" y="4023360"/>
            <a:ext cx="4169664" cy="859536"/>
          </a:xfrm>
          <a:prstGeom prst="roundRect">
            <a:avLst>
              <a:gd name="adj" fmla="val 14894"/>
            </a:avLst>
          </a:prstGeom>
          <a:solidFill>
            <a:srgbClr val="162032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38328" y="4023360"/>
            <a:ext cx="4169664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" y="4224528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33272" y="415137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Moq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1033272" y="4498848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— no live DB required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4636008" y="4023360"/>
            <a:ext cx="4169664" cy="859536"/>
          </a:xfrm>
          <a:prstGeom prst="roundRect">
            <a:avLst>
              <a:gd name="adj" fmla="val 14894"/>
            </a:avLst>
          </a:prstGeom>
          <a:solidFill>
            <a:srgbClr val="16203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636008" y="4023360"/>
            <a:ext cx="4169664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8888" y="4224528"/>
            <a:ext cx="384048" cy="38404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330952" y="415137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+ Jasmine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5330952" y="4498848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Unit Tests — 13 spec files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170432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DD0031">
              <a:alpha val="10000"/>
            </a:srgbClr>
          </a:solidFill>
          <a:ln w="25400">
            <a:solidFill>
              <a:srgbClr val="DD00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2435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 Frontend  (Port 4200)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155448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 ·  Bootstrap 5  ·  RxJS  ·  Karma+Jasmine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0" y="1426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" y="204825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3B82F6">
              <a:alpha val="1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1214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  (Port 5000)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" y="243230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 ·  Route Matching  ·  Request Forwarding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46720" y="23042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" y="292608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9992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 :5001   ·   ProductService :5002   ·   CartService :5003   ·   OrderService :5004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" y="331012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Microservices  ·  Each Independent  ·  Each in Docker Container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46720" y="31821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" y="380390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CC2927">
              <a:alpha val="10000"/>
            </a:srgbClr>
          </a:solidFill>
          <a:ln w="25400">
            <a:solidFill>
              <a:srgbClr val="CC29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8770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 — ECommerceDb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" y="418795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Users  ·  Products  ·  CartItems  ·  Orders  ·  OrderItems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0" y="4059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2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0" y="1847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249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3602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" y="46085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Internal: CartService &amp; OrderService → ProductService via Docker DNS (not through Gateway)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103120"/>
            <a:ext cx="329184" cy="329184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2432304"/>
            <a:ext cx="0" cy="329184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2560320"/>
            <a:ext cx="512064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2761488"/>
            <a:ext cx="0" cy="27432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761488"/>
            <a:ext cx="201168" cy="27432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07238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32735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15568" y="2359152"/>
            <a:ext cx="1170432" cy="438912"/>
          </a:xfrm>
          <a:prstGeom prst="roundRect">
            <a:avLst>
              <a:gd name="adj" fmla="val 48000"/>
            </a:avLst>
          </a:prstGeom>
          <a:solidFill>
            <a:srgbClr val="EDE9FE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35915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3050" y="2559153"/>
            <a:ext cx="262517" cy="0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3744" y="1389888"/>
            <a:ext cx="1280160" cy="438912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13898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Users)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23744" y="2359152"/>
            <a:ext cx="1280160" cy="438912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23591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 Users)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0" y="2578608"/>
            <a:ext cx="237744" cy="914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3824" y="1828800"/>
            <a:ext cx="914" cy="530352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59936" y="2359152"/>
            <a:ext cx="1280160" cy="438912"/>
          </a:xfrm>
          <a:prstGeom prst="roundRect">
            <a:avLst>
              <a:gd name="adj" fmla="val 48000"/>
            </a:avLst>
          </a:prstGeom>
          <a:solidFill>
            <a:srgbClr val="EDE9FE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9936" y="23591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03904" y="2578608"/>
            <a:ext cx="256032" cy="914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59936" y="3401568"/>
            <a:ext cx="1097280" cy="365760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9936" y="3401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2798064"/>
            <a:ext cx="914" cy="603504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767328"/>
            <a:ext cx="2359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700784" y="3456432"/>
            <a:ext cx="0" cy="310896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700784" y="2743200"/>
            <a:ext cx="0" cy="71323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614416" y="1152144"/>
            <a:ext cx="1609344" cy="365760"/>
          </a:xfrm>
          <a:prstGeom prst="roundRect">
            <a:avLst>
              <a:gd name="adj" fmla="val 48000"/>
            </a:avLst>
          </a:prstGeom>
          <a:solidFill>
            <a:srgbClr val="CCFBF1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115214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flipH="1">
            <a:off x="5208774" y="1389888"/>
            <a:ext cx="351692" cy="957426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14416" y="1664208"/>
            <a:ext cx="1609344" cy="365760"/>
          </a:xfrm>
          <a:prstGeom prst="roundRect">
            <a:avLst>
              <a:gd name="adj" fmla="val 48000"/>
            </a:avLst>
          </a:prstGeom>
          <a:solidFill>
            <a:srgbClr val="CCFBF1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166420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Cart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 flipH="1">
            <a:off x="5272290" y="1865376"/>
            <a:ext cx="323838" cy="530352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Shape 35"/>
          <p:cNvSpPr/>
          <p:nvPr/>
        </p:nvSpPr>
        <p:spPr>
          <a:xfrm>
            <a:off x="5614416" y="2176272"/>
            <a:ext cx="1609344" cy="365760"/>
          </a:xfrm>
          <a:prstGeom prst="roundRect">
            <a:avLst>
              <a:gd name="adj" fmla="val 48000"/>
            </a:avLst>
          </a:prstGeom>
          <a:solidFill>
            <a:srgbClr val="FEF3C7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1110" y="216443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Orders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88348" y="2432304"/>
            <a:ext cx="241050" cy="25652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2176272"/>
            <a:ext cx="1463040" cy="365760"/>
          </a:xfrm>
          <a:prstGeom prst="roundRect">
            <a:avLst>
              <a:gd name="adj" fmla="val 48000"/>
            </a:avLst>
          </a:prstGeom>
          <a:solidFill>
            <a:srgbClr val="FEF3C7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43216" y="21762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23760" y="2359152"/>
            <a:ext cx="219456" cy="914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14416" y="2688336"/>
            <a:ext cx="1609344" cy="365760"/>
          </a:xfrm>
          <a:prstGeom prst="roundRect">
            <a:avLst>
              <a:gd name="adj" fmla="val 48000"/>
            </a:avLst>
          </a:prstGeom>
          <a:solidFill>
            <a:srgbClr val="CCFBF1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14416" y="268833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 History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40096" y="2578608"/>
            <a:ext cx="274320" cy="292608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14416" y="3200400"/>
            <a:ext cx="1609344" cy="365760"/>
          </a:xfrm>
          <a:prstGeom prst="roundRect">
            <a:avLst>
              <a:gd name="adj" fmla="val 48000"/>
            </a:avLst>
          </a:prstGeom>
          <a:solidFill>
            <a:srgbClr val="EDE9FE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32004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340096" y="2578608"/>
            <a:ext cx="274320" cy="804672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ROUTER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Architecture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85616" y="1115568"/>
            <a:ext cx="1572768" cy="420624"/>
          </a:xfrm>
          <a:prstGeom prst="roundRect">
            <a:avLst>
              <a:gd name="adj" fmla="val 48000"/>
            </a:avLst>
          </a:prstGeom>
          <a:solidFill>
            <a:srgbClr val="0A1628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85616" y="111556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AppComponent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(Root)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14400" y="1115568"/>
            <a:ext cx="1426464" cy="420624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1556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NavbarComponent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[Global]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03136" y="1115568"/>
            <a:ext cx="1426464" cy="420624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03136" y="111556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FooterComponent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[Global]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03136" y="1719072"/>
            <a:ext cx="1426464" cy="420624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3136" y="171907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ToastComponent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[Global]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40864" y="1325880"/>
            <a:ext cx="1444752" cy="914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58384" y="1325880"/>
            <a:ext cx="1444752" cy="914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58384" y="1325880"/>
            <a:ext cx="2871216" cy="914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938528"/>
            <a:ext cx="1280160" cy="384048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938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Outlet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app.routes.ts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536192"/>
            <a:ext cx="914" cy="402336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50545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ROUTES  (No Guard)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2336" y="2724912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72491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 flipV="1">
            <a:off x="1060704" y="2304288"/>
            <a:ext cx="3383280" cy="398680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2724912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272491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 flipV="1">
            <a:off x="2505456" y="2337208"/>
            <a:ext cx="1878584" cy="351128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55264" y="2724912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272491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/product/:id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 flipV="1">
            <a:off x="4109720" y="2304288"/>
            <a:ext cx="334264" cy="420624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1728" y="2724912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72491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322576"/>
            <a:ext cx="768096" cy="402336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08192" y="2724912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72491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/register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2322576"/>
            <a:ext cx="2194560" cy="402336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34656" y="2724912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272491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/admin-login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2322576"/>
            <a:ext cx="3621024" cy="402336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2552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  (requires valid JWT → redirect /login)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42416" y="3474720"/>
            <a:ext cx="2414016" cy="365760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2416" y="34747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/cart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39312" y="3474720"/>
            <a:ext cx="2414016" cy="365760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9312" y="34747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/checkout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6208" y="3474720"/>
            <a:ext cx="2414016" cy="365760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4747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/orders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2336" y="4133088"/>
            <a:ext cx="832104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" y="41879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GUARD  (requires JWT + role = 'Admin' → redirect /admin-login)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10512" y="4407408"/>
            <a:ext cx="3054096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10512" y="440740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/admin-dashboard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47488" y="4407408"/>
            <a:ext cx="3054096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47488" y="440740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/admin (products, users, orders)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 SPA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 &amp; Data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1463040"/>
            <a:ext cx="1316736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463040"/>
            <a:ext cx="1316736" cy="45720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3619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81051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bootstrapApplication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(AppComponent, appConfig)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28800" y="1719072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01952" y="1463040"/>
            <a:ext cx="1316736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01952" y="1463040"/>
            <a:ext cx="1316736" cy="45720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53619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app.config.ts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93392" y="181051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provideRouter(routes)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provideHttpClient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+withInterceptors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55264" y="1719072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28416" y="1463040"/>
            <a:ext cx="1316736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28416" y="1463040"/>
            <a:ext cx="1316736" cy="45720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153619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AppComponent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19856" y="181051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— Navbar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&lt;router-outlet&gt;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Footer + Toast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" y="2468880"/>
            <a:ext cx="2724912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2468880"/>
            <a:ext cx="54864" cy="987552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5603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287121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standalone: true — no NgModules. Each imports its own dependencies. bootstrapApplication() in main.ts.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46704" y="2468880"/>
            <a:ext cx="2724912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46704" y="2468880"/>
            <a:ext cx="54864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25603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authGuard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11296" y="287121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isLoggedIn() — validates JWT exp timestamp → redirect /login. Modern Angular 15+ functional pattern.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468880"/>
            <a:ext cx="2724912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468880"/>
            <a:ext cx="54864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5603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adminGuard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82512" y="287121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isLoggedIn() AND isAdmin() (role='Admin') → redirect /admin-login. Double-layer route protection.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" y="3602736"/>
            <a:ext cx="2724912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" y="3602736"/>
            <a:ext cx="54864" cy="9875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69417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authInterceptor (Global)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005072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withInterceptors([authInterceptor]). Attaches Bearer token. Catches HTTP 401 → auto-logout + redirect.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46704" y="3602736"/>
            <a:ext cx="2724912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46704" y="3602736"/>
            <a:ext cx="54864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11296" y="369417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BehaviorSubject State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11296" y="4005072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authState$ in AuthService. NavbarComponent subscribes reactively. No NgRx needed for this scale.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602736"/>
            <a:ext cx="2724912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3602736"/>
            <a:ext cx="54864" cy="9875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369417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ObjectUrlPipe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82512" y="4005072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File/Blob → temporary preview URL in admin panel. No base64 overhead. Instant image preview.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ASP.NET Core 8 Microservices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50976"/>
            <a:ext cx="2066544" cy="3767328"/>
          </a:xfrm>
          <a:prstGeom prst="roundRect">
            <a:avLst>
              <a:gd name="adj" fmla="val 6195"/>
            </a:avLst>
          </a:prstGeom>
          <a:solidFill>
            <a:srgbClr val="162032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50976"/>
            <a:ext cx="2066544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4241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3533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609344"/>
            <a:ext cx="1737360" cy="0"/>
          </a:xfrm>
          <a:prstGeom prst="line">
            <a:avLst/>
          </a:prstGeom>
          <a:noFill/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078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/auth/register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/auth/login → JWT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7249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/user/profile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2369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/users  [Admin]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7490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PUT /users/:id/toggle-role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68880" y="950976"/>
            <a:ext cx="2066544" cy="3767328"/>
          </a:xfrm>
          <a:prstGeom prst="roundRect">
            <a:avLst>
              <a:gd name="adj" fmla="val 6195"/>
            </a:avLst>
          </a:prstGeom>
          <a:solidFill>
            <a:srgbClr val="16203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950976"/>
            <a:ext cx="2066544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04241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13533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33472" y="1609344"/>
            <a:ext cx="1737360" cy="0"/>
          </a:xfrm>
          <a:prstGeom prst="line">
            <a:avLst/>
          </a:prstGeom>
          <a:noFill/>
          <a:ln w="1016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170078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/products  (Dapper)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78608" y="22128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/products/search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78608" y="27249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POST/PUT/DELETE  [Admin]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78608" y="32369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/images/upload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78608" y="37490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/products/admin/all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81728" y="950976"/>
            <a:ext cx="2066544" cy="3767328"/>
          </a:xfrm>
          <a:prstGeom prst="roundRect">
            <a:avLst>
              <a:gd name="adj" fmla="val 6195"/>
            </a:avLst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950976"/>
            <a:ext cx="2066544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04241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81728" y="13533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609344"/>
            <a:ext cx="1737360" cy="0"/>
          </a:xfrm>
          <a:prstGeom prst="line">
            <a:avLst/>
          </a:prstGeom>
          <a:noFill/>
          <a:ln w="1016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170078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/cart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91456" y="22128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/cart  (add/increment)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91456" y="27249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PUT /cart/:id  (qty)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91456" y="32369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DELETE /cart/:id  (item)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91456" y="37490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DELETE /cart  (clear all)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94576" y="950976"/>
            <a:ext cx="2066544" cy="3767328"/>
          </a:xfrm>
          <a:prstGeom prst="roundRect">
            <a:avLst>
              <a:gd name="adj" fmla="val 6195"/>
            </a:avLst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94576" y="950976"/>
            <a:ext cx="2066544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4576" y="104241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94576" y="13533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59168" y="1609344"/>
            <a:ext cx="1737360" cy="0"/>
          </a:xfrm>
          <a:prstGeom prst="line">
            <a:avLst/>
          </a:prstGeom>
          <a:noFill/>
          <a:ln w="1016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04304" y="170078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/orders  (create)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04304" y="22128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/orders  [Admin]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04304" y="27249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/orders/myorders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04304" y="32369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PUT /orders/:id/cancel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004304" y="37490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Stock updated via ProductSvc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6032" y="4828032"/>
            <a:ext cx="8631936" cy="201168"/>
          </a:xfrm>
          <a:prstGeom prst="roundRect">
            <a:avLst>
              <a:gd name="adj" fmla="val 27273"/>
            </a:avLst>
          </a:prstGeom>
          <a:solidFill>
            <a:srgbClr val="CC2927"/>
          </a:solidFill>
          <a:ln w="15240">
            <a:solidFill>
              <a:srgbClr val="CC292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6032" y="482803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Database:  SQL Server — ECommerceDb  |  Each service: own DbContext + EF Core Migrations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SECURITY LAYER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Ocelot  :5000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704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is a .NET API Gateway library — the single entry point for all Angular requests. It validates JWT tokens and routes to the correct microservice.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6824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Configuration  (Ocelot.json)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993392"/>
          <a:ext cx="8229600" cy="1938531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6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 Path (Client)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Downstream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/api/auth/register  |  POST /api/auth/login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UserService :5001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Public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/api/products  |  GET /api/products/search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ProductService :5002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Public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POST/PUT/DELETE /api/products  (Admin)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ProductService :5002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🔐  Admin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GET/POST/PUT/DELETE /api/cart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CartService :5003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Bearer 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GET/POST/PUT /api/orders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OrderService :5004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Bearer 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/images/:filename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ProductService :5002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Public Static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" y="404164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4133088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Two Configuration Files: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4370832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Ocelot.json (Local Dev): downstream → localhost:5001..5004     Ocelot.Docker.json (Docker): downstream → userservice:8080...  Selected via OCELOT_CONFIG env variable in docker-compose.yml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481328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148132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97864" y="1700784"/>
            <a:ext cx="0" cy="3163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468880" y="1170432"/>
            <a:ext cx="1481328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70432"/>
            <a:ext cx="1481328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704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9544" y="1700784"/>
            <a:ext cx="0" cy="3163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663440" y="1170432"/>
            <a:ext cx="1481328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5240">
            <a:solidFill>
              <a:srgbClr val="1E3A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70432"/>
            <a:ext cx="1481328" cy="3657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704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04104" y="1700784"/>
            <a:ext cx="0" cy="3163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766560" y="1170432"/>
            <a:ext cx="1481328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170432"/>
            <a:ext cx="148132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1704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07224" y="1700784"/>
            <a:ext cx="0" cy="3163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97864" y="2029968"/>
            <a:ext cx="2011680" cy="0"/>
          </a:xfrm>
          <a:prstGeom prst="line">
            <a:avLst/>
          </a:prstGeom>
          <a:noFill/>
          <a:ln w="1651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26664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" y="1755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Submit email + password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9544" y="2395728"/>
            <a:ext cx="219456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21224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43784" y="21214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POST /api/auth/login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04104" y="2761488"/>
            <a:ext cx="2103120" cy="0"/>
          </a:xfrm>
          <a:prstGeom prst="line">
            <a:avLst/>
          </a:prstGeom>
          <a:noFill/>
          <a:ln w="1651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2670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8A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92624" y="24871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Forward to UserService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04104" y="3127248"/>
            <a:ext cx="2103120" cy="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85816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92624" y="2852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200 OK  { token: 'eyJ...' }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9544" y="3493008"/>
            <a:ext cx="2194560" cy="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91256" y="3401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43784" y="32186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JWT returned to Angular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18688" y="3767328"/>
            <a:ext cx="256032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0" y="3767328"/>
            <a:ext cx="0" cy="18288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18688" y="3950208"/>
            <a:ext cx="256032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57016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Store localStorage · Decode · authState$.next(true)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9544" y="4224528"/>
            <a:ext cx="219456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21224" y="4133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843784" y="39502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Protected request + Authorization: Bearer &lt;token&gt;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9544" y="4590288"/>
            <a:ext cx="2194560" cy="0"/>
          </a:xfrm>
          <a:prstGeom prst="line">
            <a:avLst/>
          </a:prstGeom>
          <a:noFill/>
          <a:ln w="1651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91256" y="4498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</a:rPr>
              <a:t>◀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843784" y="43159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401 → interceptor: logout() + redirect /login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Role-Based Access Control &amp; Token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Payload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5488" y="1499616"/>
            <a:ext cx="3657600" cy="2084832"/>
          </a:xfrm>
          <a:prstGeom prst="roundRect">
            <a:avLst>
              <a:gd name="adj" fmla="val 5263"/>
            </a:avLst>
          </a:prstGeom>
          <a:solidFill>
            <a:srgbClr val="0A1628"/>
          </a:solidFill>
          <a:ln w="1524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2763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"nameid":       "1",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"unique_name":  "Roshan",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68296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       "r@shopez",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        "Admin",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6207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         1748000000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43984" y="118872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 (2 Validation Layers)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43984" y="1499616"/>
            <a:ext cx="4315968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43984" y="1499616"/>
            <a:ext cx="4315968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59105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Ocelot Gateway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08576" y="1901952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AuthenticationProviderKey: 'Bearer'. Validates BEFORE forwarding. Invalid token → 401. Request never reaches any microservice.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43984" y="2724912"/>
            <a:ext cx="4315968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43984" y="2724912"/>
            <a:ext cx="43159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28163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Microservice Middleware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08576" y="3127248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AddAuthentication().AddJwtBearer() in Program.cs. Same Key/Issuer/Audience. [Authorize] + [Authorize(Roles='Admin')] per endpoint.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3767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Access Matrix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4078224"/>
          <a:ext cx="8229600" cy="975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Endpoints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→ HTTP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(Auth)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/cart, /checkout, /orders, GET /api/products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endpoints → 403 Forbidden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(Auth)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+ DELETE/POST/PUT /products, GET /users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 with Admin JWT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/home, /products, GET /api/products, /images/*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 routes → 401 Unauthorized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ER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70432"/>
            <a:ext cx="1773936" cy="1956816"/>
          </a:xfrm>
          <a:prstGeom prst="rect">
            <a:avLst/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70432"/>
            <a:ext cx="1773936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1704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51790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UserId (PK, int)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47472" y="1755648"/>
            <a:ext cx="177393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9222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(nvarchar)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47472" y="2029968"/>
            <a:ext cx="177393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6654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47472" y="2304288"/>
            <a:ext cx="177393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408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(hashed)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47472" y="2578608"/>
            <a:ext cx="177393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61518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(Customer/Admin)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322576" y="1170432"/>
            <a:ext cx="1865376" cy="2322576"/>
          </a:xfrm>
          <a:prstGeom prst="rect">
            <a:avLst/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22576" y="1170432"/>
            <a:ext cx="186537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95728" y="11704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14016" y="15179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 (PK, int)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322576" y="175564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14016" y="179222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322576" y="202996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14016" y="20665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322576" y="230428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4016" y="23408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(decimal)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322576" y="257860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14016" y="26151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322576" y="285292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4016" y="28895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(int)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322576" y="312724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14016" y="316382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ImageUrl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2322576" y="340156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4016" y="34381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 ⭐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407408" y="1170432"/>
            <a:ext cx="1810512" cy="1408176"/>
          </a:xfrm>
          <a:prstGeom prst="rect">
            <a:avLst/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07408" y="1170432"/>
            <a:ext cx="1810512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117043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CartItems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98848" y="15179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 (PK, int)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407408" y="1755648"/>
            <a:ext cx="181051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179222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→ Users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407408" y="2029968"/>
            <a:ext cx="181051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98848" y="20665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→ Products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407408" y="2304288"/>
            <a:ext cx="181051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98848" y="23408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(int)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347472" y="3310128"/>
            <a:ext cx="1773936" cy="182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" y="3310128"/>
            <a:ext cx="1773936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331012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8912" y="3657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OrderId (PK, int)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347472" y="3895344"/>
            <a:ext cx="177393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393192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→ Users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347472" y="4169664"/>
            <a:ext cx="177393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42062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347472" y="4443984"/>
            <a:ext cx="177393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4805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TotalAmount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347472" y="4718304"/>
            <a:ext cx="177393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475488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347472" y="4992624"/>
            <a:ext cx="177393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50292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2322576" y="3639312"/>
            <a:ext cx="1865376" cy="1499616"/>
          </a:xfrm>
          <a:prstGeom prst="rect">
            <a:avLst/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22576" y="3639312"/>
            <a:ext cx="1865376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95728" y="36393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414016" y="39867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 (PK, int)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2322576" y="422452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14016" y="42611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(FK) → Orders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2322576" y="449884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14016" y="453542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ProductName ⭐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2322576" y="477316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14016" y="48097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2322576" y="504748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14016" y="50840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⭐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2322576" y="5321808"/>
            <a:ext cx="1865376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14016" y="53583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ImageUrl ⭐</a:t>
            </a:r>
            <a:endParaRPr lang="en-US" sz="880" dirty="0"/>
          </a:p>
        </p:txBody>
      </p:sp>
      <p:sp>
        <p:nvSpPr>
          <p:cNvPr id="73" name="Shape 71"/>
          <p:cNvSpPr/>
          <p:nvPr/>
        </p:nvSpPr>
        <p:spPr>
          <a:xfrm>
            <a:off x="2121408" y="2011680"/>
            <a:ext cx="201168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1993392" y="19202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234440" y="3127248"/>
            <a:ext cx="0" cy="182880"/>
          </a:xfrm>
          <a:prstGeom prst="line">
            <a:avLst/>
          </a:prstGeom>
          <a:noFill/>
          <a:ln w="15240">
            <a:solidFill>
              <a:srgbClr val="E2E8F0"/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1261872" y="3017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121408" y="4206240"/>
            <a:ext cx="201168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1993392" y="4114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492240" y="1170432"/>
            <a:ext cx="2304288" cy="3968496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620256" y="1261872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Design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620256" y="1792224"/>
            <a:ext cx="2048256" cy="0"/>
          </a:xfrm>
          <a:prstGeom prst="line">
            <a:avLst/>
          </a:prstGeom>
          <a:noFill/>
          <a:ln w="1016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20256" y="1865376"/>
            <a:ext cx="20482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 (Soft Delete)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marked IsActive=false instead of deleted — preserves order history integrity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620256" y="2779776"/>
            <a:ext cx="2048256" cy="0"/>
          </a:xfrm>
          <a:prstGeom prst="line">
            <a:avLst/>
          </a:prstGeom>
          <a:noFill/>
          <a:ln w="1016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20256" y="2852928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Denormalized OrderItems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ProductName, Price, ImageUrl snapshot at order time — history never stale after product edits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620256" y="3803904"/>
            <a:ext cx="2048256" cy="0"/>
          </a:xfrm>
          <a:prstGeom prst="line">
            <a:avLst/>
          </a:prstGeom>
          <a:noFill/>
          <a:ln w="1016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620256" y="3877056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Database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ECommerceDb for simplicity. Each service owns its own DbContext + migrations.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  1/3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— ShopEZ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1152144"/>
            <a:ext cx="6437376" cy="382219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11887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ShopEZ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402336" cy="402336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975104"/>
            <a:ext cx="0" cy="402336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2176272"/>
            <a:ext cx="585216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2377440"/>
            <a:ext cx="0" cy="310896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2377440"/>
            <a:ext cx="237744" cy="310896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657600"/>
            <a:ext cx="402336" cy="402336"/>
          </a:xfrm>
          <a:prstGeom prst="ellipse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" y="4059936"/>
            <a:ext cx="0" cy="40233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4261104"/>
            <a:ext cx="585216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" y="4462272"/>
            <a:ext cx="0" cy="31089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4462272"/>
            <a:ext cx="237744" cy="31089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23744" y="1389888"/>
            <a:ext cx="2340864" cy="402336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138988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87552" y="2103120"/>
            <a:ext cx="1536192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  <p:sp>
        <p:nvSpPr>
          <p:cNvPr id="22" name="Shape 20"/>
          <p:cNvSpPr/>
          <p:nvPr/>
        </p:nvSpPr>
        <p:spPr>
          <a:xfrm>
            <a:off x="2523744" y="1901952"/>
            <a:ext cx="2340864" cy="402336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190195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Products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87552" y="2103120"/>
            <a:ext cx="1536192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  <p:sp>
        <p:nvSpPr>
          <p:cNvPr id="25" name="Shape 23"/>
          <p:cNvSpPr/>
          <p:nvPr/>
        </p:nvSpPr>
        <p:spPr>
          <a:xfrm>
            <a:off x="2523744" y="2414016"/>
            <a:ext cx="2340864" cy="402336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41401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87552" y="2103120"/>
            <a:ext cx="1536192" cy="512064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  <p:sp>
        <p:nvSpPr>
          <p:cNvPr id="28" name="Shape 26"/>
          <p:cNvSpPr/>
          <p:nvPr/>
        </p:nvSpPr>
        <p:spPr>
          <a:xfrm>
            <a:off x="2523744" y="2926080"/>
            <a:ext cx="2340864" cy="402336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3744" y="292608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Pay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87552" y="2103120"/>
            <a:ext cx="1536192" cy="1024128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  <p:sp>
        <p:nvSpPr>
          <p:cNvPr id="31" name="Shape 29"/>
          <p:cNvSpPr/>
          <p:nvPr/>
        </p:nvSpPr>
        <p:spPr>
          <a:xfrm>
            <a:off x="2523744" y="3438144"/>
            <a:ext cx="2340864" cy="402336"/>
          </a:xfrm>
          <a:prstGeom prst="roundRect">
            <a:avLst>
              <a:gd name="adj" fmla="val 48000"/>
            </a:avLst>
          </a:prstGeom>
          <a:solidFill>
            <a:srgbClr val="DBEAFE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3438144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 History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87552" y="2103120"/>
            <a:ext cx="1536192" cy="1536192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  <p:sp>
        <p:nvSpPr>
          <p:cNvPr id="34" name="Shape 32"/>
          <p:cNvSpPr/>
          <p:nvPr/>
        </p:nvSpPr>
        <p:spPr>
          <a:xfrm>
            <a:off x="5742432" y="1426464"/>
            <a:ext cx="2743200" cy="402336"/>
          </a:xfrm>
          <a:prstGeom prst="roundRect">
            <a:avLst>
              <a:gd name="adj" fmla="val 48000"/>
            </a:avLst>
          </a:prstGeom>
          <a:solidFill>
            <a:srgbClr val="EDE9FE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14264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87552" y="4059936"/>
            <a:ext cx="475488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  <p:sp>
        <p:nvSpPr>
          <p:cNvPr id="37" name="Shape 35"/>
          <p:cNvSpPr/>
          <p:nvPr/>
        </p:nvSpPr>
        <p:spPr>
          <a:xfrm>
            <a:off x="5742432" y="1938528"/>
            <a:ext cx="2743200" cy="402336"/>
          </a:xfrm>
          <a:prstGeom prst="roundRect">
            <a:avLst>
              <a:gd name="adj" fmla="val 48000"/>
            </a:avLst>
          </a:prstGeom>
          <a:solidFill>
            <a:srgbClr val="EDE9FE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19385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 (CRUD)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87552" y="4059936"/>
            <a:ext cx="475488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  <p:sp>
        <p:nvSpPr>
          <p:cNvPr id="40" name="Shape 38"/>
          <p:cNvSpPr/>
          <p:nvPr/>
        </p:nvSpPr>
        <p:spPr>
          <a:xfrm>
            <a:off x="5742432" y="2450592"/>
            <a:ext cx="2743200" cy="402336"/>
          </a:xfrm>
          <a:prstGeom prst="roundRect">
            <a:avLst>
              <a:gd name="adj" fmla="val 48000"/>
            </a:avLst>
          </a:prstGeom>
          <a:solidFill>
            <a:srgbClr val="EDE9FE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24505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Product Images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87552" y="4059936"/>
            <a:ext cx="475488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  <p:sp>
        <p:nvSpPr>
          <p:cNvPr id="43" name="Shape 41"/>
          <p:cNvSpPr/>
          <p:nvPr/>
        </p:nvSpPr>
        <p:spPr>
          <a:xfrm>
            <a:off x="5742432" y="2962656"/>
            <a:ext cx="2743200" cy="402336"/>
          </a:xfrm>
          <a:prstGeom prst="roundRect">
            <a:avLst>
              <a:gd name="adj" fmla="val 48000"/>
            </a:avLst>
          </a:prstGeom>
          <a:solidFill>
            <a:srgbClr val="EDE9FE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42432" y="29626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7552" y="4059936"/>
            <a:ext cx="475488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  <p:sp>
        <p:nvSpPr>
          <p:cNvPr id="46" name="Shape 44"/>
          <p:cNvSpPr/>
          <p:nvPr/>
        </p:nvSpPr>
        <p:spPr>
          <a:xfrm>
            <a:off x="5742432" y="3474720"/>
            <a:ext cx="2743200" cy="402336"/>
          </a:xfrm>
          <a:prstGeom prst="roundRect">
            <a:avLst>
              <a:gd name="adj" fmla="val 48000"/>
            </a:avLst>
          </a:prstGeom>
          <a:solidFill>
            <a:srgbClr val="EDE9FE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34747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User Roles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87552" y="4059936"/>
            <a:ext cx="475488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dot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  2/3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 — Angular Frontend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38144" y="1188720"/>
            <a:ext cx="2267712" cy="512064"/>
          </a:xfrm>
          <a:prstGeom prst="roundRect">
            <a:avLst>
              <a:gd name="adj" fmla="val 25000"/>
            </a:avLst>
          </a:prstGeom>
          <a:solidFill>
            <a:srgbClr val="0A1628"/>
          </a:solidFill>
          <a:ln w="1524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38144" y="118872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AppComponent  (Root)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" y="1188720"/>
            <a:ext cx="155448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" y="118872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NavbarComponent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[Always Visible]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83664" y="1444752"/>
            <a:ext cx="155448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571232" y="1188720"/>
            <a:ext cx="155448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71232" y="118872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FooterComponent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[Always Visible]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85104" y="1481328"/>
            <a:ext cx="1786128" cy="18288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571232" y="1883664"/>
            <a:ext cx="155448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71232" y="188366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ToastComponent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[Global Overlay]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14416" y="1737360"/>
            <a:ext cx="1956815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931920" y="2002536"/>
            <a:ext cx="1353312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95344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Outlet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app.routes.ts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700784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651760"/>
            <a:ext cx="8485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(no guard)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" y="2871216"/>
            <a:ext cx="1316736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" y="287121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450592"/>
            <a:ext cx="0" cy="420624"/>
          </a:xfrm>
          <a:prstGeom prst="line">
            <a:avLst/>
          </a:prstGeom>
          <a:noFill/>
          <a:ln w="10160">
            <a:solidFill>
              <a:srgbClr val="E2E8F0"/>
            </a:solidFill>
            <a:prstDash val="dot"/>
          </a:ln>
        </p:spPr>
      </p:sp>
      <p:sp>
        <p:nvSpPr>
          <p:cNvPr id="23" name="Shape 21"/>
          <p:cNvSpPr/>
          <p:nvPr/>
        </p:nvSpPr>
        <p:spPr>
          <a:xfrm>
            <a:off x="1755648" y="2871216"/>
            <a:ext cx="1316736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55648" y="287121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2450592"/>
            <a:ext cx="0" cy="420624"/>
          </a:xfrm>
          <a:prstGeom prst="line">
            <a:avLst/>
          </a:prstGeom>
          <a:noFill/>
          <a:ln w="10160">
            <a:solidFill>
              <a:srgbClr val="E2E8F0"/>
            </a:solidFill>
            <a:prstDash val="dot"/>
          </a:ln>
        </p:spPr>
      </p:sp>
      <p:sp>
        <p:nvSpPr>
          <p:cNvPr id="26" name="Shape 24"/>
          <p:cNvSpPr/>
          <p:nvPr/>
        </p:nvSpPr>
        <p:spPr>
          <a:xfrm>
            <a:off x="3182112" y="2871216"/>
            <a:ext cx="1316736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82112" y="287121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/product/:id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2450592"/>
            <a:ext cx="0" cy="420624"/>
          </a:xfrm>
          <a:prstGeom prst="line">
            <a:avLst/>
          </a:prstGeom>
          <a:noFill/>
          <a:ln w="10160">
            <a:solidFill>
              <a:srgbClr val="E2E8F0"/>
            </a:solidFill>
            <a:prstDash val="dot"/>
          </a:ln>
        </p:spPr>
      </p:sp>
      <p:sp>
        <p:nvSpPr>
          <p:cNvPr id="29" name="Shape 27"/>
          <p:cNvSpPr/>
          <p:nvPr/>
        </p:nvSpPr>
        <p:spPr>
          <a:xfrm>
            <a:off x="4608576" y="2871216"/>
            <a:ext cx="1316736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08576" y="287121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2450592"/>
            <a:ext cx="694944" cy="420624"/>
          </a:xfrm>
          <a:prstGeom prst="line">
            <a:avLst/>
          </a:prstGeom>
          <a:noFill/>
          <a:ln w="10160">
            <a:solidFill>
              <a:srgbClr val="E2E8F0"/>
            </a:solidFill>
            <a:prstDash val="dot"/>
          </a:ln>
        </p:spPr>
      </p:sp>
      <p:sp>
        <p:nvSpPr>
          <p:cNvPr id="32" name="Shape 30"/>
          <p:cNvSpPr/>
          <p:nvPr/>
        </p:nvSpPr>
        <p:spPr>
          <a:xfrm>
            <a:off x="6035040" y="2871216"/>
            <a:ext cx="1316736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35040" y="287121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/register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2450592"/>
            <a:ext cx="2121408" cy="420624"/>
          </a:xfrm>
          <a:prstGeom prst="line">
            <a:avLst/>
          </a:prstGeom>
          <a:noFill/>
          <a:ln w="10160">
            <a:solidFill>
              <a:srgbClr val="E2E8F0"/>
            </a:solidFill>
            <a:prstDash val="dot"/>
          </a:ln>
        </p:spPr>
      </p:sp>
      <p:sp>
        <p:nvSpPr>
          <p:cNvPr id="35" name="Shape 33"/>
          <p:cNvSpPr/>
          <p:nvPr/>
        </p:nvSpPr>
        <p:spPr>
          <a:xfrm>
            <a:off x="7461504" y="2871216"/>
            <a:ext cx="1316736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61504" y="287121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/admin-login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2450592"/>
            <a:ext cx="3547872" cy="420624"/>
          </a:xfrm>
          <a:prstGeom prst="line">
            <a:avLst/>
          </a:prstGeom>
          <a:noFill/>
          <a:ln w="10160">
            <a:solidFill>
              <a:srgbClr val="E2E8F0"/>
            </a:solidFill>
            <a:prstDash val="dot"/>
          </a:ln>
        </p:spPr>
      </p:sp>
      <p:sp>
        <p:nvSpPr>
          <p:cNvPr id="38" name="Text 36"/>
          <p:cNvSpPr/>
          <p:nvPr/>
        </p:nvSpPr>
        <p:spPr>
          <a:xfrm>
            <a:off x="329184" y="3401568"/>
            <a:ext cx="8485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authGuard  — requires valid JWT  →  redirect  /login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59536" y="3621024"/>
            <a:ext cx="2596896" cy="402336"/>
          </a:xfrm>
          <a:prstGeom prst="roundRect">
            <a:avLst>
              <a:gd name="adj" fmla="val 31818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59536" y="362102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/cart  [authGuard]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94176" y="3621024"/>
            <a:ext cx="2596896" cy="402336"/>
          </a:xfrm>
          <a:prstGeom prst="roundRect">
            <a:avLst>
              <a:gd name="adj" fmla="val 31818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694176" y="362102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/checkout  [authGuard]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528816" y="3621024"/>
            <a:ext cx="2596896" cy="402336"/>
          </a:xfrm>
          <a:prstGeom prst="roundRect">
            <a:avLst>
              <a:gd name="adj" fmla="val 31818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28816" y="362102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/orders  [authGuard]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9184" y="4151376"/>
            <a:ext cx="8485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adminGuard  — requires JWT  +  role = 'Admin'  →  redirect  /admin-login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6384" y="4370832"/>
            <a:ext cx="3749040" cy="402336"/>
          </a:xfrm>
          <a:prstGeom prst="roundRect">
            <a:avLst>
              <a:gd name="adj" fmla="val 31818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86384" y="43708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/admin-dashboard  [adminGuard]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01184" y="4370832"/>
            <a:ext cx="3749040" cy="402336"/>
          </a:xfrm>
          <a:prstGeom prst="roundRect">
            <a:avLst>
              <a:gd name="adj" fmla="val 31818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901184" y="43708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AdminComponent — products, users, orders  [adminGuard]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  3/3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Place Order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170432"/>
            <a:ext cx="142646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170432"/>
            <a:ext cx="1426464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7043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15568" y="1719072"/>
            <a:ext cx="0" cy="3145536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21408" y="1170432"/>
            <a:ext cx="142646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21408" y="1170432"/>
            <a:ext cx="1426464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117043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719072"/>
            <a:ext cx="0" cy="3145536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858768" y="1170432"/>
            <a:ext cx="142646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5240">
            <a:solidFill>
              <a:srgbClr val="1E3A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58768" y="1170432"/>
            <a:ext cx="1426464" cy="3657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117043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719072"/>
            <a:ext cx="0" cy="3145536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596128" y="1170432"/>
            <a:ext cx="142646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96128" y="1170432"/>
            <a:ext cx="1426464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117043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1719072"/>
            <a:ext cx="0" cy="3145536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333488" y="1170432"/>
            <a:ext cx="142646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33488" y="1170432"/>
            <a:ext cx="1426464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117043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46720" y="1719072"/>
            <a:ext cx="0" cy="3145536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15568" y="2011680"/>
            <a:ext cx="1719072" cy="0"/>
          </a:xfrm>
          <a:prstGeom prst="line">
            <a:avLst/>
          </a:prstGeom>
          <a:noFill/>
          <a:ln w="1651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192024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" y="1755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Fill checkout form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34640" y="2322576"/>
            <a:ext cx="173736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223113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31720" y="20665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POST /api/orders + Bearer token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2633472"/>
            <a:ext cx="1737360" cy="0"/>
          </a:xfrm>
          <a:prstGeom prst="line">
            <a:avLst/>
          </a:prstGeom>
          <a:noFill/>
          <a:ln w="1651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8A"/>
                </a:solidFill>
              </a:rPr>
              <a:t>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69080" y="2377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Validate JWT → forward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09360" y="2944368"/>
            <a:ext cx="173736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28529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06440" y="26883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GetProduct(id) — price, name, imageUrl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3255264"/>
            <a:ext cx="1737360" cy="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316382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◀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06440" y="29992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Product details returned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18504" y="3474720"/>
            <a:ext cx="23774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56248" y="3474720"/>
            <a:ext cx="0" cy="18288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8504" y="3657600"/>
            <a:ext cx="23774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438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Create Order + OrderItems. TotalAmount.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09360" y="3877056"/>
            <a:ext cx="173736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37856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▶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806440" y="3621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UpdateStock(id, qty) — decrement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09360" y="4187952"/>
            <a:ext cx="1737360" cy="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40965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◀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806440" y="3931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200 OK stock updated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34640" y="4498848"/>
            <a:ext cx="3474720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16352" y="44074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</a:rPr>
              <a:t>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200400" y="4242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201 Created → navigate /order-success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950976"/>
            <a:ext cx="4169664" cy="932688"/>
          </a:xfrm>
          <a:prstGeom prst="roundRect">
            <a:avLst>
              <a:gd name="adj" fmla="val 11765"/>
            </a:avLst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950976"/>
            <a:ext cx="4169664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5214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107899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Role Authentication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21208" y="148132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Admin roles. Defense-in-depth: Gateway + Service layers.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36008" y="950976"/>
            <a:ext cx="4169664" cy="932688"/>
          </a:xfrm>
          <a:prstGeom prst="roundRect">
            <a:avLst>
              <a:gd name="adj" fmla="val 11765"/>
            </a:avLst>
          </a:prstGeom>
          <a:solidFill>
            <a:srgbClr val="16203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950976"/>
            <a:ext cx="4169664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15214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107899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818888" y="148132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filter by category, pagination. Dapper-powered fast reads.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38328" y="2048256"/>
            <a:ext cx="4169664" cy="932688"/>
          </a:xfrm>
          <a:prstGeom prst="roundRect">
            <a:avLst>
              <a:gd name="adj" fmla="val 11765"/>
            </a:avLst>
          </a:prstGeom>
          <a:solidFill>
            <a:srgbClr val="162032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38328" y="2048256"/>
            <a:ext cx="4169664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24942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96696" y="217627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21208" y="25786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Server-persisted. Real-time enrichment via ProductService. Update qty.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36008" y="2048256"/>
            <a:ext cx="4169664" cy="932688"/>
          </a:xfrm>
          <a:prstGeom prst="roundRect">
            <a:avLst>
              <a:gd name="adj" fmla="val 11765"/>
            </a:avLst>
          </a:prstGeom>
          <a:solidFill>
            <a:srgbClr val="162032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36008" y="2048256"/>
            <a:ext cx="4169664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24942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94376" y="217627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Orders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818888" y="25786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address form + payment method. Order history. Soft stock management.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38328" y="3145536"/>
            <a:ext cx="4169664" cy="932688"/>
          </a:xfrm>
          <a:prstGeom prst="roundRect">
            <a:avLst>
              <a:gd name="adj" fmla="val 11765"/>
            </a:avLst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8328" y="3145536"/>
            <a:ext cx="4169664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34670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6696" y="327355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21208" y="36758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 + image upload. Toggle user roles. View all customer orders.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636008" y="3145536"/>
            <a:ext cx="4169664" cy="932688"/>
          </a:xfrm>
          <a:prstGeom prst="roundRect">
            <a:avLst>
              <a:gd name="adj" fmla="val 11765"/>
            </a:avLst>
          </a:prstGeom>
          <a:solidFill>
            <a:srgbClr val="162032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36008" y="3145536"/>
            <a:ext cx="4169664" cy="411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346704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94376" y="327355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818888" y="36758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:5000. JWT validation + route forwarding to 4 microservices.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38328" y="4242816"/>
            <a:ext cx="4169664" cy="932688"/>
          </a:xfrm>
          <a:prstGeom prst="roundRect">
            <a:avLst>
              <a:gd name="adj" fmla="val 11765"/>
            </a:avLst>
          </a:prstGeom>
          <a:solidFill>
            <a:srgbClr val="162032"/>
          </a:solidFill>
          <a:ln w="19050">
            <a:solidFill>
              <a:srgbClr val="2496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38328" y="4242816"/>
            <a:ext cx="4169664" cy="4114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" y="4443984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96696" y="437083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521208" y="477316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7-container one-command startup. Multi-stage Nginx Angular build.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4636008" y="4242816"/>
            <a:ext cx="4169664" cy="932688"/>
          </a:xfrm>
          <a:prstGeom prst="roundRect">
            <a:avLst>
              <a:gd name="adj" fmla="val 11765"/>
            </a:avLst>
          </a:prstGeom>
          <a:solidFill>
            <a:srgbClr val="16203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636008" y="4242816"/>
            <a:ext cx="4169664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8888" y="4443984"/>
            <a:ext cx="365760" cy="3657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94376" y="437083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4818888" y="477316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Moq (backend, no live DB). Karma + Jasmine (13 Angular spec files).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 — UI Screens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15214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tmp/zipp/Frontend/Customer Home 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188720"/>
            <a:ext cx="2670048" cy="1572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28529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15214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tmp/zipp/Frontend/Login p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36976" y="1188720"/>
            <a:ext cx="2670048" cy="15727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36976" y="28529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61888" y="115214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/tmp/zipp/Frontend/Products P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98464" y="1188720"/>
            <a:ext cx="2670048" cy="15727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98464" y="28529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Catalogue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38912" y="325526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3" descr="/tmp/zipp/Frontend/View Cart P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" y="3291840"/>
            <a:ext cx="2670048" cy="15727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488" y="49560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200400" y="325526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4" descr="/tmp/zipp/Frontend/Checkout Page for ordering with address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36976" y="3291840"/>
            <a:ext cx="2670048" cy="15727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236976" y="49560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961888" y="325526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5" descr="/tmp/zipp/Frontend/Orders p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98464" y="3291840"/>
            <a:ext cx="2670048" cy="15727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998464" y="49560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ADMIN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 — UI Screens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15214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tmp/zipp/Frontend/Admin Login 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188720"/>
            <a:ext cx="2670048" cy="1572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28529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15214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tmp/zipp/Frontend/Admin Dashboard p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36976" y="1188720"/>
            <a:ext cx="2670048" cy="15727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36976" y="28529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61888" y="115214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/tmp/zipp/Frontend/Admin Pane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98464" y="1188720"/>
            <a:ext cx="2670048" cy="15727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98464" y="28529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38912" y="325526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3" descr="/tmp/zipp/Frontend/Customer orders in Admin Panel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" y="3291840"/>
            <a:ext cx="2670048" cy="15727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488" y="49560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 Orders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200400" y="325526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4" descr="/tmp/zipp/Frontend/Customet to Admin Change panel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36976" y="3291840"/>
            <a:ext cx="2670048" cy="15727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236976" y="49560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 Toggle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961888" y="3255264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5" descr="/tmp/zipp/Frontend/Orders Acknowledgement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98464" y="3291840"/>
            <a:ext cx="2670048" cy="15727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998464" y="49560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&amp; TESTING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&amp; Postman Test Evidence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2070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— Auto-Generated API Documentation (per service)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121408" cy="1335024"/>
          </a:xfrm>
          <a:prstGeom prst="roundRect">
            <a:avLst>
              <a:gd name="adj" fmla="val 684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zipp/Backend/Swagger-UserServi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" y="1499616"/>
            <a:ext cx="2048256" cy="12618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2336" y="28346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 :5001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42032" y="1463040"/>
            <a:ext cx="2121408" cy="1335024"/>
          </a:xfrm>
          <a:prstGeom prst="roundRect">
            <a:avLst>
              <a:gd name="adj" fmla="val 684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/tmp/zipp/Backend/Swagger-ProductServic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8608" y="1499616"/>
            <a:ext cx="2048256" cy="12618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78608" y="28346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 :5002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718304" y="1463040"/>
            <a:ext cx="2121408" cy="1335024"/>
          </a:xfrm>
          <a:prstGeom prst="roundRect">
            <a:avLst>
              <a:gd name="adj" fmla="val 684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/tmp/zipp/Backend/Swagger-CartServic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54880" y="1499616"/>
            <a:ext cx="2048256" cy="12618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8346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CartService :5003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894576" y="1463040"/>
            <a:ext cx="2121408" cy="1335024"/>
          </a:xfrm>
          <a:prstGeom prst="roundRect">
            <a:avLst>
              <a:gd name="adj" fmla="val 684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/tmp/zipp/Backend/Swagger-OrderServic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31152" y="1499616"/>
            <a:ext cx="2048256" cy="1261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1152" y="28346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 :5004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402336" y="31638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Key API Test Cases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65760" y="3419856"/>
            <a:ext cx="1682496" cy="1389888"/>
          </a:xfrm>
          <a:prstGeom prst="roundRect">
            <a:avLst>
              <a:gd name="adj" fmla="val 657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4" descr="/tmp/zipp/Backend/Postman-Test-Post-User-login-success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2336" y="3456432"/>
            <a:ext cx="1609344" cy="131673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444752" y="3511296"/>
            <a:ext cx="530352" cy="21945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444752" y="35112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402336" y="480974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JWT (200 OK)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2084832" y="3419856"/>
            <a:ext cx="1682496" cy="1389888"/>
          </a:xfrm>
          <a:prstGeom prst="roundRect">
            <a:avLst>
              <a:gd name="adj" fmla="val 657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/tmp/zipp/Backend/Postman-Test-Post-AddProduct-success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121408" y="3456432"/>
            <a:ext cx="1609344" cy="131673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3163824" y="3511296"/>
            <a:ext cx="530352" cy="21945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163824" y="35112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700" dirty="0"/>
          </a:p>
        </p:txBody>
      </p:sp>
      <p:sp>
        <p:nvSpPr>
          <p:cNvPr id="28" name="Text 20"/>
          <p:cNvSpPr/>
          <p:nvPr/>
        </p:nvSpPr>
        <p:spPr>
          <a:xfrm>
            <a:off x="2121408" y="480974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Admin (200)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3803904" y="3419856"/>
            <a:ext cx="1682496" cy="1389888"/>
          </a:xfrm>
          <a:prstGeom prst="roundRect">
            <a:avLst>
              <a:gd name="adj" fmla="val 657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6" descr="/tmp/zipp/Backend/Postman-Test-DEL-Product-Forbidden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40480" y="3456432"/>
            <a:ext cx="1609344" cy="1316736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882896" y="3511296"/>
            <a:ext cx="530352" cy="219456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4882896" y="35112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33" name="Text 24"/>
          <p:cNvSpPr/>
          <p:nvPr/>
        </p:nvSpPr>
        <p:spPr>
          <a:xfrm>
            <a:off x="3840480" y="480974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 Role → 403</a:t>
            </a:r>
            <a:endParaRPr lang="en-US" sz="800" dirty="0"/>
          </a:p>
        </p:txBody>
      </p:sp>
      <p:sp>
        <p:nvSpPr>
          <p:cNvPr id="34" name="Shape 25"/>
          <p:cNvSpPr/>
          <p:nvPr/>
        </p:nvSpPr>
        <p:spPr>
          <a:xfrm>
            <a:off x="5522976" y="3419856"/>
            <a:ext cx="1682496" cy="1389888"/>
          </a:xfrm>
          <a:prstGeom prst="roundRect">
            <a:avLst>
              <a:gd name="adj" fmla="val 657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5" name="Image 7" descr="/tmp/zipp/Backend/Postman-Test-Post-Add Cart-Unauthorized-WithoutLogin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559552" y="3456432"/>
            <a:ext cx="1609344" cy="1316736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601968" y="3511296"/>
            <a:ext cx="530352" cy="219456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601968" y="35112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38" name="Text 28"/>
          <p:cNvSpPr/>
          <p:nvPr/>
        </p:nvSpPr>
        <p:spPr>
          <a:xfrm>
            <a:off x="5559552" y="480974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→ 401</a:t>
            </a:r>
            <a:endParaRPr lang="en-US" sz="800" dirty="0"/>
          </a:p>
        </p:txBody>
      </p:sp>
      <p:sp>
        <p:nvSpPr>
          <p:cNvPr id="39" name="Shape 29"/>
          <p:cNvSpPr/>
          <p:nvPr/>
        </p:nvSpPr>
        <p:spPr>
          <a:xfrm>
            <a:off x="7242048" y="3419856"/>
            <a:ext cx="1682496" cy="1389888"/>
          </a:xfrm>
          <a:prstGeom prst="roundRect">
            <a:avLst>
              <a:gd name="adj" fmla="val 657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0" name="Image 8" descr="/tmp/zipp/Backend/Postman-Test-POST-Order-success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278624" y="3456432"/>
            <a:ext cx="1609344" cy="1316736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8321040" y="3511296"/>
            <a:ext cx="530352" cy="21945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8321040" y="35112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700" dirty="0"/>
          </a:p>
        </p:txBody>
      </p:sp>
      <p:sp>
        <p:nvSpPr>
          <p:cNvPr id="43" name="Text 32"/>
          <p:cNvSpPr/>
          <p:nvPr/>
        </p:nvSpPr>
        <p:spPr>
          <a:xfrm>
            <a:off x="7278624" y="480974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 (201)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Deployment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" y="950976"/>
            <a:ext cx="1133856" cy="1463040"/>
          </a:xfrm>
          <a:prstGeom prst="roundRect">
            <a:avLst>
              <a:gd name="adj" fmla="val 9677"/>
            </a:avLst>
          </a:prstGeom>
          <a:solidFill>
            <a:srgbClr val="162032"/>
          </a:solidFill>
          <a:ln w="19050">
            <a:solidFill>
              <a:srgbClr val="CC292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" y="950976"/>
            <a:ext cx="1133856" cy="41148"/>
          </a:xfrm>
          <a:prstGeom prst="rect">
            <a:avLst/>
          </a:prstGeom>
          <a:solidFill>
            <a:srgbClr val="CC2927"/>
          </a:solidFill>
          <a:ln w="12700">
            <a:solidFill>
              <a:srgbClr val="CC292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0789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456" y="15179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C29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19456" y="177393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:14333→1433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481328" y="950976"/>
            <a:ext cx="1133856" cy="1463040"/>
          </a:xfrm>
          <a:prstGeom prst="roundRect">
            <a:avLst>
              <a:gd name="adj" fmla="val 9677"/>
            </a:avLst>
          </a:prstGeom>
          <a:solidFill>
            <a:srgbClr val="162032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481328" y="950976"/>
            <a:ext cx="1133856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10789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81328" y="15179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481328" y="177393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 int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2743200" y="950976"/>
            <a:ext cx="1133856" cy="1463040"/>
          </a:xfrm>
          <a:prstGeom prst="roundRect">
            <a:avLst>
              <a:gd name="adj" fmla="val 9677"/>
            </a:avLst>
          </a:prstGeom>
          <a:solidFill>
            <a:srgbClr val="16203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0" y="950976"/>
            <a:ext cx="1133856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107899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43200" y="15179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2743200" y="177393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+img vol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005072" y="950976"/>
            <a:ext cx="1133856" cy="1463040"/>
          </a:xfrm>
          <a:prstGeom prst="roundRect">
            <a:avLst>
              <a:gd name="adj" fmla="val 9677"/>
            </a:avLst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005072" y="950976"/>
            <a:ext cx="1133856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107899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05072" y="15179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cartservice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4005072" y="177393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CartService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 int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5266944" y="950976"/>
            <a:ext cx="1133856" cy="1463040"/>
          </a:xfrm>
          <a:prstGeom prst="roundRect">
            <a:avLst>
              <a:gd name="adj" fmla="val 9677"/>
            </a:avLst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266944" y="950976"/>
            <a:ext cx="1133856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2704" y="1078992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66944" y="15179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5266944" y="177393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 int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6528816" y="950976"/>
            <a:ext cx="1133856" cy="1463040"/>
          </a:xfrm>
          <a:prstGeom prst="roundRect">
            <a:avLst>
              <a:gd name="adj" fmla="val 9677"/>
            </a:avLst>
          </a:prstGeom>
          <a:solidFill>
            <a:srgbClr val="162032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528816" y="950976"/>
            <a:ext cx="1133856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1078992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28816" y="15179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apigateway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6528816" y="177393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Gateway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:5000</a:t>
            </a:r>
            <a:endParaRPr lang="en-US" sz="700" dirty="0"/>
          </a:p>
        </p:txBody>
      </p:sp>
      <p:sp>
        <p:nvSpPr>
          <p:cNvPr id="35" name="Shape 27"/>
          <p:cNvSpPr/>
          <p:nvPr/>
        </p:nvSpPr>
        <p:spPr>
          <a:xfrm>
            <a:off x="7790688" y="950976"/>
            <a:ext cx="1133856" cy="1463040"/>
          </a:xfrm>
          <a:prstGeom prst="roundRect">
            <a:avLst>
              <a:gd name="adj" fmla="val 9677"/>
            </a:avLst>
          </a:prstGeom>
          <a:solidFill>
            <a:srgbClr val="162032"/>
          </a:solidFill>
          <a:ln w="19050">
            <a:solidFill>
              <a:srgbClr val="DD003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790688" y="950976"/>
            <a:ext cx="1133856" cy="41148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8" y="1078992"/>
            <a:ext cx="402336" cy="40233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790688" y="15179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shopez-web</a:t>
            </a:r>
            <a:endParaRPr lang="en-US" sz="750" dirty="0"/>
          </a:p>
        </p:txBody>
      </p:sp>
      <p:sp>
        <p:nvSpPr>
          <p:cNvPr id="39" name="Text 30"/>
          <p:cNvSpPr/>
          <p:nvPr/>
        </p:nvSpPr>
        <p:spPr>
          <a:xfrm>
            <a:off x="7790688" y="177393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Nginx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:4200→80</a:t>
            </a:r>
            <a:endParaRPr lang="en-US" sz="700" dirty="0"/>
          </a:p>
        </p:txBody>
      </p:sp>
      <p:sp>
        <p:nvSpPr>
          <p:cNvPr id="40" name="Text 31"/>
          <p:cNvSpPr/>
          <p:nvPr/>
        </p:nvSpPr>
        <p:spPr>
          <a:xfrm>
            <a:off x="274320" y="2578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— All 7 Containers Running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274320" y="2889504"/>
            <a:ext cx="8595360" cy="1664208"/>
          </a:xfrm>
          <a:prstGeom prst="roundRect">
            <a:avLst>
              <a:gd name="adj" fmla="val 5495"/>
            </a:avLst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2" name="Image 7" descr="/tmp/zipp/Backend/Docker Running Successfully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74320" y="2889504"/>
            <a:ext cx="8595360" cy="1664208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274320" y="4663440"/>
            <a:ext cx="8595360" cy="310896"/>
          </a:xfrm>
          <a:prstGeom prst="roundRect">
            <a:avLst>
              <a:gd name="adj" fmla="val 17647"/>
            </a:avLst>
          </a:prstGeom>
          <a:solidFill>
            <a:srgbClr val="162032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34"/>
          <p:cNvSpPr/>
          <p:nvPr/>
        </p:nvSpPr>
        <p:spPr>
          <a:xfrm>
            <a:off x="420624" y="4700016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docker compose up --build   →   Starts all 7 containers in correct dependency order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ARCHITECTURE DECISION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+ EF Core — Hybrid ORM in ProductService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 uses BOTH ORMs deliberately — choosing the right tool for each type of operation: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" y="1591056"/>
            <a:ext cx="4133088" cy="268833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591056"/>
            <a:ext cx="413308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64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Dapper — Read Operations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23113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12140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SqlConnection — zero EF translation overhead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57860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46888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 → raw SQL SELECT WHERE IsActive=1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81635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/products/search → parameterized queries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2735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16382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/products/:id → single row, instant response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62102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51129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catalogue reads — ~3-10× faster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96849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85876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read-heavy public-facing endpoints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08576" y="1591056"/>
            <a:ext cx="4133088" cy="268833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1591056"/>
            <a:ext cx="4133088" cy="45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64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EF Core — Writes &amp; Schema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2231136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212140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change tracking — knows what changed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2578608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246888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/products → _context.Products.Add(entity)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2926080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281635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/products/:id → Update with change tracking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3273552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316382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→ IsActive=false via EF (soft delete)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73168" y="3621024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351129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ef migrations add → schema versioning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3968496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385876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__EFMigrationsHistory tracks applied migrations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02336" y="4425696"/>
            <a:ext cx="8339328" cy="402336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462272"/>
            <a:ext cx="8028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Result:  Dapper raw SQL for fast catalogue reads  +  EF Core change tracking for safe writes  =  Best performance AND best maintainability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20700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xUnit + Moq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" y="1517904"/>
          <a:ext cx="4059936" cy="151790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 Covered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CartService.Tests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CartAddTests — add item, qty increment, auth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OrderService.Tests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OrderCreateTests — order creation, stock update, invalid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ApiGateway.Tests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GatewaySmokeTests — Ocelot config load + route 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02336" y="2889504"/>
            <a:ext cx="4059936" cy="347472"/>
          </a:xfrm>
          <a:prstGeom prst="roundRect">
            <a:avLst>
              <a:gd name="adj" fmla="val 15789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Moq mocks all repositories — zero live database dependency during tests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18304" y="120700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Karma + Jasmine</a:t>
            </a:r>
            <a:endParaRPr lang="en-US" sz="12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18304" y="1517904"/>
          <a:ext cx="4059936" cy="157276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Tested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auth.spec.ts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isLoggedIn, isAdmin, logout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cart-service.spec.ts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getCart, addToCart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order-service.spec.ts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createOrder, getMyOrders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checkout-component.spec.ts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object-url-pipe.spec.ts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→ object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02336" y="3364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 Evidence — All Tests Passing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02336" y="3675888"/>
            <a:ext cx="8321040" cy="1152144"/>
          </a:xfrm>
          <a:prstGeom prst="roundRect">
            <a:avLst>
              <a:gd name="adj" fmla="val 7937"/>
            </a:avLst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0" descr="/tmp/zipp/Backend/Test Cases Running Evide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" y="3675888"/>
            <a:ext cx="8321040" cy="11521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50976"/>
            <a:ext cx="2706624" cy="1298448"/>
          </a:xfrm>
          <a:prstGeom prst="roundRect">
            <a:avLst>
              <a:gd name="adj" fmla="val 9859"/>
            </a:avLst>
          </a:prstGeom>
          <a:solidFill>
            <a:srgbClr val="162032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50976"/>
            <a:ext cx="2706624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338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0789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155448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Stripe in OrderService for live payment processing.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18688" y="950976"/>
            <a:ext cx="2706624" cy="1298448"/>
          </a:xfrm>
          <a:prstGeom prst="roundRect">
            <a:avLst>
              <a:gd name="adj" fmla="val 9859"/>
            </a:avLst>
          </a:prstGeom>
          <a:solidFill>
            <a:srgbClr val="16203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8688" y="950976"/>
            <a:ext cx="2706624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338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77056" y="10789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364992" y="155448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product suggestions using purchase + browsing history.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53328" y="950976"/>
            <a:ext cx="2706624" cy="1298448"/>
          </a:xfrm>
          <a:prstGeom prst="roundRect">
            <a:avLst>
              <a:gd name="adj" fmla="val 9859"/>
            </a:avLst>
          </a:prstGeom>
          <a:solidFill>
            <a:srgbClr val="162032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53328" y="950976"/>
            <a:ext cx="2706624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1338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11696" y="10789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(K8s)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199632" y="155448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Docker Compose with K8s for auto-scaling, self-healing.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84048" y="2450592"/>
            <a:ext cx="2706624" cy="1298448"/>
          </a:xfrm>
          <a:prstGeom prst="roundRect">
            <a:avLst>
              <a:gd name="adj" fmla="val 9859"/>
            </a:avLst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84048" y="2450592"/>
            <a:ext cx="2706624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63347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42416" y="257860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30352" y="305409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product listings for sub-millisecond response on reads.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18688" y="2450592"/>
            <a:ext cx="2706624" cy="1298448"/>
          </a:xfrm>
          <a:prstGeom prst="roundRect">
            <a:avLst>
              <a:gd name="adj" fmla="val 9859"/>
            </a:avLst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18688" y="2450592"/>
            <a:ext cx="2706624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263347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77056" y="257860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Messaging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364992" y="305409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inter-service comms — decouple OrderService from ProductSvc.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053328" y="2450592"/>
            <a:ext cx="2706624" cy="1298448"/>
          </a:xfrm>
          <a:prstGeom prst="roundRect">
            <a:avLst>
              <a:gd name="adj" fmla="val 9859"/>
            </a:avLst>
          </a:prstGeom>
          <a:solidFill>
            <a:srgbClr val="162032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53328" y="2450592"/>
            <a:ext cx="2706624" cy="411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63347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11696" y="257860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Real-Time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199632" y="305409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order status updates to customers.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7548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54864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243584"/>
            <a:ext cx="4261104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243584"/>
            <a:ext cx="54864" cy="10789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37160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" y="133502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5216" y="17190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ASP.NET Core 8 services — domain-driven, isolated, independently deployable, each containerized.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243584"/>
            <a:ext cx="4261104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43584"/>
            <a:ext cx="54864" cy="1078992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371600"/>
            <a:ext cx="256032" cy="256032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33502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 Modern Patterns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17190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components, functional guards/interceptor, BehaviorSubject state — no NgModules.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" y="2487168"/>
            <a:ext cx="4261104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2336" y="248716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" y="261518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50976" y="257860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Security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5216" y="29626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validated at Ocelot Gateway AND microservice middleware — two independent authentication layers.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487168"/>
            <a:ext cx="4261104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48716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61518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257860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ORM Decision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0" y="29626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for performance-critical reads, EF Core for safe schema-managed writes — choosing the right tool.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" y="3730752"/>
            <a:ext cx="4261104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2336" y="3730752"/>
            <a:ext cx="54864" cy="107899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" y="3858768"/>
            <a:ext cx="256032" cy="256032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0976" y="3822192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5216" y="42062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7-container one-command startup — SQL, 4 services, Gateway, Angular Nginx with multi-stage build.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730752"/>
            <a:ext cx="4261104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730752"/>
            <a:ext cx="54864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385876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94960" y="3822192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0" y="42062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xUnit+Moq backend (no live DB), Karma+Jasmine Angular — 3 test projects, 13 spec files, all passing.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-1645920"/>
            <a:ext cx="5943600" cy="5943600"/>
          </a:xfrm>
          <a:prstGeom prst="ellipse">
            <a:avLst/>
          </a:prstGeom>
          <a:solidFill>
            <a:srgbClr val="1E3A8A">
              <a:alpha val="14000"/>
            </a:srgbClr>
          </a:solidFill>
          <a:ln w="12700">
            <a:solidFill>
              <a:srgbClr val="1E3A8A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09728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0" y="2688336"/>
            <a:ext cx="219456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2871216"/>
            <a:ext cx="4754880" cy="1664208"/>
          </a:xfrm>
          <a:prstGeom prst="roundRect">
            <a:avLst>
              <a:gd name="adj" fmla="val 8791"/>
            </a:avLst>
          </a:prstGeom>
          <a:solidFill>
            <a:srgbClr val="162032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0358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79776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maniarroshan7@gmail.com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4381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9776" y="3401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github.com/ManiarRoshan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728" y="38404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79776" y="3803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uGE_DotNet FSD  |  May 2026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ShopEZ — E-Commerce Application  |  Developed by Maniar Roshan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3421</Words>
  <Application>Microsoft Office PowerPoint</Application>
  <PresentationFormat>On-screen Show (16:9)</PresentationFormat>
  <Paragraphs>638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Zakriya</cp:lastModifiedBy>
  <cp:revision>3</cp:revision>
  <dcterms:created xsi:type="dcterms:W3CDTF">2026-05-24T10:42:34Z</dcterms:created>
  <dcterms:modified xsi:type="dcterms:W3CDTF">2026-05-24T17:54:04Z</dcterms:modified>
</cp:coreProperties>
</file>